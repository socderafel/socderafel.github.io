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ENCA TORRES, JOSE" userId="6046ff54-01f4-48fa-bc59-bd1228c0c887" providerId="ADAL" clId="{2005EE3D-B447-4D95-9319-3A2E75611BFD}"/>
    <pc:docChg chg="undo custSel modSld">
      <pc:chgData name="CUENCA TORRES, JOSE" userId="6046ff54-01f4-48fa-bc59-bd1228c0c887" providerId="ADAL" clId="{2005EE3D-B447-4D95-9319-3A2E75611BFD}" dt="2026-09-16T13:22:46.752" v="174" actId="20577"/>
      <pc:docMkLst>
        <pc:docMk/>
      </pc:docMkLst>
      <pc:sldChg chg="modSp mod">
        <pc:chgData name="CUENCA TORRES, JOSE" userId="6046ff54-01f4-48fa-bc59-bd1228c0c887" providerId="ADAL" clId="{2005EE3D-B447-4D95-9319-3A2E75611BFD}" dt="2026-09-16T13:16:10.490" v="46" actId="20577"/>
        <pc:sldMkLst>
          <pc:docMk/>
          <pc:sldMk cId="0" sldId="256"/>
        </pc:sldMkLst>
        <pc:spChg chg="mod">
          <ac:chgData name="CUENCA TORRES, JOSE" userId="6046ff54-01f4-48fa-bc59-bd1228c0c887" providerId="ADAL" clId="{2005EE3D-B447-4D95-9319-3A2E75611BFD}" dt="2026-09-16T13:16:10.490" v="46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CUENCA TORRES, JOSE" userId="6046ff54-01f4-48fa-bc59-bd1228c0c887" providerId="ADAL" clId="{2005EE3D-B447-4D95-9319-3A2E75611BFD}" dt="2026-09-16T13:20:50.754" v="122"/>
        <pc:sldMkLst>
          <pc:docMk/>
          <pc:sldMk cId="0" sldId="258"/>
        </pc:sldMkLst>
        <pc:spChg chg="mod">
          <ac:chgData name="CUENCA TORRES, JOSE" userId="6046ff54-01f4-48fa-bc59-bd1228c0c887" providerId="ADAL" clId="{2005EE3D-B447-4D95-9319-3A2E75611BFD}" dt="2026-09-16T13:17:38.237" v="54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CUENCA TORRES, JOSE" userId="6046ff54-01f4-48fa-bc59-bd1228c0c887" providerId="ADAL" clId="{2005EE3D-B447-4D95-9319-3A2E75611BFD}" dt="2026-09-16T13:20:42.495" v="116" actId="20577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CUENCA TORRES, JOSE" userId="6046ff54-01f4-48fa-bc59-bd1228c0c887" providerId="ADAL" clId="{2005EE3D-B447-4D95-9319-3A2E75611BFD}" dt="2026-09-16T13:20:50.754" v="122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CUENCA TORRES, JOSE" userId="6046ff54-01f4-48fa-bc59-bd1228c0c887" providerId="ADAL" clId="{2005EE3D-B447-4D95-9319-3A2E75611BFD}" dt="2026-09-16T13:18:23.873" v="65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CUENCA TORRES, JOSE" userId="6046ff54-01f4-48fa-bc59-bd1228c0c887" providerId="ADAL" clId="{2005EE3D-B447-4D95-9319-3A2E75611BFD}" dt="2026-09-16T13:18:26.702" v="69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CUENCA TORRES, JOSE" userId="6046ff54-01f4-48fa-bc59-bd1228c0c887" providerId="ADAL" clId="{2005EE3D-B447-4D95-9319-3A2E75611BFD}" dt="2026-09-16T13:18:26.698" v="67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CUENCA TORRES, JOSE" userId="6046ff54-01f4-48fa-bc59-bd1228c0c887" providerId="ADAL" clId="{2005EE3D-B447-4D95-9319-3A2E75611BFD}" dt="2026-09-16T13:20:50.754" v="120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CUENCA TORRES, JOSE" userId="6046ff54-01f4-48fa-bc59-bd1228c0c887" providerId="ADAL" clId="{2005EE3D-B447-4D95-9319-3A2E75611BFD}" dt="2026-09-16T13:18:58.834" v="77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CUENCA TORRES, JOSE" userId="6046ff54-01f4-48fa-bc59-bd1228c0c887" providerId="ADAL" clId="{2005EE3D-B447-4D95-9319-3A2E75611BFD}" dt="2026-09-16T13:20:50.754" v="11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CUENCA TORRES, JOSE" userId="6046ff54-01f4-48fa-bc59-bd1228c0c887" providerId="ADAL" clId="{2005EE3D-B447-4D95-9319-3A2E75611BFD}" dt="2026-09-16T13:18:58.834" v="75" actId="478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CUENCA TORRES, JOSE" userId="6046ff54-01f4-48fa-bc59-bd1228c0c887" providerId="ADAL" clId="{2005EE3D-B447-4D95-9319-3A2E75611BFD}" dt="2026-09-16T13:19:02.862" v="79" actId="1076"/>
          <ac:picMkLst>
            <pc:docMk/>
            <pc:sldMk cId="0" sldId="258"/>
            <ac:picMk id="2" creationId="{00000000-0000-0000-0000-000000000000}"/>
          </ac:picMkLst>
        </pc:picChg>
        <pc:picChg chg="del">
          <ac:chgData name="CUENCA TORRES, JOSE" userId="6046ff54-01f4-48fa-bc59-bd1228c0c887" providerId="ADAL" clId="{2005EE3D-B447-4D95-9319-3A2E75611BFD}" dt="2026-09-16T13:16:27.771" v="47" actId="478"/>
          <ac:picMkLst>
            <pc:docMk/>
            <pc:sldMk cId="0" sldId="258"/>
            <ac:picMk id="3" creationId="{00000000-0000-0000-0000-000000000000}"/>
          </ac:picMkLst>
        </pc:picChg>
        <pc:picChg chg="del">
          <ac:chgData name="CUENCA TORRES, JOSE" userId="6046ff54-01f4-48fa-bc59-bd1228c0c887" providerId="ADAL" clId="{2005EE3D-B447-4D95-9319-3A2E75611BFD}" dt="2026-09-16T13:17:11.241" v="48" actId="478"/>
          <ac:picMkLst>
            <pc:docMk/>
            <pc:sldMk cId="0" sldId="258"/>
            <ac:picMk id="14" creationId="{00000000-0000-0000-0000-000000000000}"/>
          </ac:picMkLst>
        </pc:picChg>
      </pc:sldChg>
      <pc:sldChg chg="modSp mod">
        <pc:chgData name="CUENCA TORRES, JOSE" userId="6046ff54-01f4-48fa-bc59-bd1228c0c887" providerId="ADAL" clId="{2005EE3D-B447-4D95-9319-3A2E75611BFD}" dt="2026-09-16T13:22:08.050" v="157" actId="20577"/>
        <pc:sldMkLst>
          <pc:docMk/>
          <pc:sldMk cId="0" sldId="264"/>
        </pc:sldMkLst>
        <pc:graphicFrameChg chg="modGraphic">
          <ac:chgData name="CUENCA TORRES, JOSE" userId="6046ff54-01f4-48fa-bc59-bd1228c0c887" providerId="ADAL" clId="{2005EE3D-B447-4D95-9319-3A2E75611BFD}" dt="2026-09-16T13:22:08.050" v="157" actId="20577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  <pc:sldChg chg="modSp mod">
        <pc:chgData name="CUENCA TORRES, JOSE" userId="6046ff54-01f4-48fa-bc59-bd1228c0c887" providerId="ADAL" clId="{2005EE3D-B447-4D95-9319-3A2E75611BFD}" dt="2026-09-16T13:22:21.783" v="159" actId="14100"/>
        <pc:sldMkLst>
          <pc:docMk/>
          <pc:sldMk cId="0" sldId="265"/>
        </pc:sldMkLst>
        <pc:spChg chg="mod">
          <ac:chgData name="CUENCA TORRES, JOSE" userId="6046ff54-01f4-48fa-bc59-bd1228c0c887" providerId="ADAL" clId="{2005EE3D-B447-4D95-9319-3A2E75611BFD}" dt="2026-09-16T13:22:21.783" v="159" actId="14100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CUENCA TORRES, JOSE" userId="6046ff54-01f4-48fa-bc59-bd1228c0c887" providerId="ADAL" clId="{2005EE3D-B447-4D95-9319-3A2E75611BFD}" dt="2026-09-16T13:22:46.752" v="174" actId="20577"/>
        <pc:sldMkLst>
          <pc:docMk/>
          <pc:sldMk cId="0" sldId="266"/>
        </pc:sldMkLst>
        <pc:spChg chg="mod">
          <ac:chgData name="CUENCA TORRES, JOSE" userId="6046ff54-01f4-48fa-bc59-bd1228c0c887" providerId="ADAL" clId="{2005EE3D-B447-4D95-9319-3A2E75611BFD}" dt="2026-09-16T13:22:46.752" v="174" actId="20577"/>
          <ac:spMkLst>
            <pc:docMk/>
            <pc:sldMk cId="0" sldId="26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2409378"/>
            <a:ext cx="4400550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10476" y="2961828"/>
            <a:ext cx="8371046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 dirty="0">
                <a:solidFill>
                  <a:srgbClr val="0F172A"/>
                </a:solidFill>
                <a:latin typeface="Poppins"/>
              </a:rPr>
              <a:t>Funda la </a:t>
            </a:r>
            <a:r>
              <a:rPr sz="4050" b="1" i="0" u="none" dirty="0" err="1">
                <a:solidFill>
                  <a:srgbClr val="0F172A"/>
                </a:solidFill>
                <a:latin typeface="Poppins"/>
              </a:rPr>
              <a:t>Teua</a:t>
            </a:r>
            <a:r>
              <a:rPr sz="405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4050" b="1" i="0" u="none" dirty="0" err="1">
                <a:solidFill>
                  <a:srgbClr val="0284C7"/>
                </a:solidFill>
                <a:latin typeface="Poppins"/>
              </a:rPr>
              <a:t>Pròpia</a:t>
            </a:r>
            <a:r>
              <a:rPr sz="4050" b="1" i="0" u="none" dirty="0">
                <a:solidFill>
                  <a:srgbClr val="0284C7"/>
                </a:solidFill>
                <a:latin typeface="Poppins"/>
              </a:rPr>
              <a:t> </a:t>
            </a:r>
            <a:r>
              <a:rPr sz="4050" b="1" i="0" u="none" dirty="0" err="1">
                <a:solidFill>
                  <a:srgbClr val="0284C7"/>
                </a:solidFill>
                <a:latin typeface="Poppins"/>
              </a:rPr>
              <a:t>Empresa</a:t>
            </a:r>
            <a:endParaRPr sz="4050" b="1" i="0" u="none" dirty="0">
              <a:solidFill>
                <a:srgbClr val="0284C7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0" y="3762821"/>
            <a:ext cx="7810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Creació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 individual des de zero d'un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servei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tècnic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: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identitat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corporativa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eines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 LibreOffice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i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seguretat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DM Sans"/>
              </a:rPr>
              <a:t>laboral</a:t>
            </a:r>
            <a:r>
              <a:rPr sz="1500" b="0" i="0" u="none" dirty="0">
                <a:solidFill>
                  <a:srgbClr val="475569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340768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0680" y="2607468"/>
            <a:ext cx="5110638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0F172A"/>
                </a:solidFill>
                <a:latin typeface="Poppins"/>
              </a:rPr>
              <a:t>El Repte del Projecte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500" y="3502818"/>
            <a:ext cx="7239000" cy="900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62"/>
              </a:lnSpc>
            </a:pP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Convertirem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l'aula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en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una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incubadora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tecnològica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.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Treballareu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de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manera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autònoma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i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individual per a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tindre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llest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el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vostre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negoci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al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març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,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preparats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per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saltar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al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món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575" b="0" i="0" u="none" dirty="0" err="1">
                <a:solidFill>
                  <a:srgbClr val="475569"/>
                </a:solidFill>
                <a:latin typeface="DM Sans"/>
              </a:rPr>
              <a:t>laboral</a:t>
            </a:r>
            <a:r>
              <a:rPr sz="1575" b="0" i="0" u="none" dirty="0">
                <a:solidFill>
                  <a:srgbClr val="475569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8187" y="1697699"/>
            <a:ext cx="5815012" cy="74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2000" b="1" i="0" u="none" dirty="0">
                <a:solidFill>
                  <a:srgbClr val="334155"/>
                </a:solidFill>
                <a:latin typeface="DM Sans"/>
              </a:rPr>
              <a:t>Com </a:t>
            </a:r>
            <a:r>
              <a:rPr sz="2000" b="1" i="0" u="none" dirty="0" err="1">
                <a:solidFill>
                  <a:srgbClr val="334155"/>
                </a:solidFill>
                <a:latin typeface="DM Sans"/>
              </a:rPr>
              <a:t>si</a:t>
            </a:r>
            <a:r>
              <a:rPr sz="2000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DM Sans"/>
              </a:rPr>
              <a:t>fores</a:t>
            </a:r>
            <a:r>
              <a:rPr sz="2000" b="1" i="0" u="none" dirty="0">
                <a:solidFill>
                  <a:srgbClr val="334155"/>
                </a:solidFill>
                <a:latin typeface="DM Sans"/>
              </a:rPr>
              <a:t> un/a professional independent: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aquest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mòdul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connecta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tot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el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que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aprens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per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crear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una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botiga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servei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tècnic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 100% </a:t>
            </a:r>
            <a:r>
              <a:rPr sz="2000" b="0" i="0" u="none" dirty="0" err="1">
                <a:solidFill>
                  <a:srgbClr val="334155"/>
                </a:solidFill>
                <a:latin typeface="DM Sans"/>
              </a:rPr>
              <a:t>teu</a:t>
            </a:r>
            <a:r>
              <a:rPr sz="200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2703380"/>
            <a:ext cx="7660746" cy="3153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b="0" i="0" u="none" dirty="0">
                <a:solidFill>
                  <a:srgbClr val="334155"/>
                </a:solidFill>
                <a:latin typeface="DM Sans"/>
              </a:rPr>
              <a:t>Fins al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març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assumiràs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el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rol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creador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/a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tècnic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DM Sans"/>
              </a:rPr>
              <a:t>responsable</a:t>
            </a:r>
            <a:r>
              <a:rPr b="0" i="0" u="none" dirty="0">
                <a:solidFill>
                  <a:srgbClr val="334155"/>
                </a:solidFill>
                <a:latin typeface="DM Sans"/>
              </a:rPr>
              <a:t>:</a:t>
            </a:r>
            <a:endParaRPr lang="es-ES" b="0" i="0" u="none" dirty="0">
              <a:solidFill>
                <a:srgbClr val="334155"/>
              </a:solidFill>
              <a:latin typeface="DM Sans"/>
            </a:endParaRPr>
          </a:p>
          <a:p>
            <a:pPr>
              <a:lnSpc>
                <a:spcPts val="1912"/>
              </a:lnSpc>
            </a:pPr>
            <a:br>
              <a:rPr lang="es-ES" b="0" i="0" u="none" dirty="0">
                <a:solidFill>
                  <a:srgbClr val="334155"/>
                </a:solidFill>
                <a:latin typeface="DM Sans"/>
              </a:rPr>
            </a:b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-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Disseny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de la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teua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pròpia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identitat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corporativa.</a:t>
            </a:r>
          </a:p>
          <a:p>
            <a:pPr>
              <a:lnSpc>
                <a:spcPts val="1912"/>
              </a:lnSpc>
            </a:pPr>
            <a:br>
              <a:rPr lang="es-ES" b="0" i="0" u="none" dirty="0">
                <a:solidFill>
                  <a:srgbClr val="334155"/>
                </a:solidFill>
                <a:latin typeface="DM Sans"/>
              </a:rPr>
            </a:b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-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Gestió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administrativa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autònoma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amb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eines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lliures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.</a:t>
            </a:r>
            <a:br>
              <a:rPr lang="es-ES" b="0" i="0" u="none" dirty="0">
                <a:solidFill>
                  <a:srgbClr val="334155"/>
                </a:solidFill>
                <a:latin typeface="DM Sans"/>
              </a:rPr>
            </a:br>
            <a:endParaRPr lang="es-ES" b="0" i="0" u="none" dirty="0">
              <a:solidFill>
                <a:srgbClr val="334155"/>
              </a:solidFill>
              <a:latin typeface="DM Sans"/>
            </a:endParaRPr>
          </a:p>
          <a:p>
            <a:pPr>
              <a:lnSpc>
                <a:spcPts val="1912"/>
              </a:lnSpc>
            </a:pP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-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Gestió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administrativa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autònoma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amb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eines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lliures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.</a:t>
            </a:r>
          </a:p>
          <a:p>
            <a:pPr>
              <a:lnSpc>
                <a:spcPts val="1912"/>
              </a:lnSpc>
            </a:pPr>
            <a:br>
              <a:rPr lang="es-ES" b="0" i="0" u="none" dirty="0">
                <a:solidFill>
                  <a:srgbClr val="334155"/>
                </a:solidFill>
                <a:latin typeface="DM Sans"/>
              </a:rPr>
            </a:b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-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Muntatge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segur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d'equips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informàtics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i </a:t>
            </a:r>
            <a:r>
              <a:rPr lang="es-ES" b="0" i="0" u="none" dirty="0" err="1">
                <a:solidFill>
                  <a:srgbClr val="334155"/>
                </a:solidFill>
                <a:latin typeface="DM Sans"/>
              </a:rPr>
              <a:t>prevenció</a:t>
            </a:r>
            <a:r>
              <a:rPr lang="es-ES" b="0" i="0" u="none" dirty="0">
                <a:solidFill>
                  <a:srgbClr val="334155"/>
                </a:solidFill>
                <a:latin typeface="DM Sans"/>
              </a:rPr>
              <a:t> (PRL).</a:t>
            </a:r>
          </a:p>
          <a:p>
            <a:pPr>
              <a:lnSpc>
                <a:spcPts val="1912"/>
              </a:lnSpc>
            </a:pPr>
            <a:endParaRPr lang="pt-BR" b="0" i="0" u="none" dirty="0">
              <a:solidFill>
                <a:srgbClr val="334155"/>
              </a:solidFill>
              <a:latin typeface="DM Sans"/>
            </a:endParaRPr>
          </a:p>
          <a:p>
            <a:pPr>
              <a:lnSpc>
                <a:spcPts val="1912"/>
              </a:lnSpc>
            </a:pPr>
            <a:r>
              <a:rPr lang="pt-BR" dirty="0">
                <a:solidFill>
                  <a:srgbClr val="334155"/>
                </a:solidFill>
                <a:latin typeface="DM Sans"/>
              </a:rPr>
              <a:t>- </a:t>
            </a:r>
            <a:r>
              <a:rPr lang="pt-BR" b="0" i="0" u="none" dirty="0" err="1">
                <a:solidFill>
                  <a:srgbClr val="334155"/>
                </a:solidFill>
                <a:latin typeface="DM Sans"/>
              </a:rPr>
              <a:t>Presentació</a:t>
            </a:r>
            <a:r>
              <a:rPr lang="pt-BR" b="0" i="0" u="none" dirty="0">
                <a:solidFill>
                  <a:srgbClr val="334155"/>
                </a:solidFill>
                <a:latin typeface="DM Sans"/>
              </a:rPr>
              <a:t> i venda </a:t>
            </a:r>
            <a:r>
              <a:rPr lang="pt-BR" b="0" i="0" u="none" dirty="0" err="1">
                <a:solidFill>
                  <a:srgbClr val="334155"/>
                </a:solidFill>
                <a:latin typeface="DM Sans"/>
              </a:rPr>
              <a:t>del</a:t>
            </a:r>
            <a:r>
              <a:rPr lang="pt-BR" b="0" i="0" u="none" dirty="0">
                <a:solidFill>
                  <a:srgbClr val="334155"/>
                </a:solidFill>
                <a:latin typeface="DM Sans"/>
              </a:rPr>
              <a:t> teu </a:t>
            </a:r>
            <a:r>
              <a:rPr lang="pt-BR" b="0" i="0" u="none" dirty="0" err="1">
                <a:solidFill>
                  <a:srgbClr val="334155"/>
                </a:solidFill>
                <a:latin typeface="DM Sans"/>
              </a:rPr>
              <a:t>projecte</a:t>
            </a:r>
            <a:r>
              <a:rPr lang="pt-BR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pt-BR" b="0" i="0" u="none" dirty="0" err="1">
                <a:solidFill>
                  <a:srgbClr val="334155"/>
                </a:solidFill>
                <a:latin typeface="DM Sans"/>
              </a:rPr>
              <a:t>abans</a:t>
            </a:r>
            <a:r>
              <a:rPr lang="pt-BR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lang="pt-BR" b="0" i="0" u="none" dirty="0" err="1">
                <a:solidFill>
                  <a:srgbClr val="334155"/>
                </a:solidFill>
                <a:latin typeface="DM Sans"/>
              </a:rPr>
              <a:t>marxar</a:t>
            </a:r>
            <a:r>
              <a:rPr lang="pt-BR" b="0" i="0" u="none" dirty="0">
                <a:solidFill>
                  <a:srgbClr val="334155"/>
                </a:solidFill>
                <a:latin typeface="DM Sans"/>
              </a:rPr>
              <a:t> a </a:t>
            </a:r>
            <a:r>
              <a:rPr lang="pt-BR" b="0" i="0" u="none" dirty="0" err="1">
                <a:solidFill>
                  <a:srgbClr val="334155"/>
                </a:solidFill>
                <a:latin typeface="DM Sans"/>
              </a:rPr>
              <a:t>les</a:t>
            </a:r>
            <a:r>
              <a:rPr lang="pt-BR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pt-BR" b="0" i="0" u="none" dirty="0" err="1">
                <a:solidFill>
                  <a:srgbClr val="334155"/>
                </a:solidFill>
                <a:latin typeface="DM Sans"/>
              </a:rPr>
              <a:t>pràctiques</a:t>
            </a:r>
            <a:r>
              <a:rPr lang="pt-BR" b="0" i="0" u="none" dirty="0">
                <a:solidFill>
                  <a:srgbClr val="334155"/>
                </a:solidFill>
                <a:latin typeface="DM Sans"/>
              </a:rPr>
              <a:t>.</a:t>
            </a:r>
            <a:endParaRPr lang="es-ES" b="0" i="0" u="none" dirty="0">
              <a:solidFill>
                <a:srgbClr val="334155"/>
              </a:solidFill>
              <a:latin typeface="DM Sans"/>
            </a:endParaRPr>
          </a:p>
          <a:p>
            <a:pPr>
              <a:lnSpc>
                <a:spcPts val="1912"/>
              </a:lnSpc>
            </a:pPr>
            <a:endParaRPr lang="es-ES" sz="1275" b="0" i="0" u="none" dirty="0">
              <a:solidFill>
                <a:srgbClr val="334155"/>
              </a:solidFill>
              <a:latin typeface="DM Sans"/>
            </a:endParaRPr>
          </a:p>
          <a:p>
            <a:pPr algn="l">
              <a:lnSpc>
                <a:spcPts val="1912"/>
              </a:lnSpc>
            </a:pPr>
            <a:endParaRPr sz="1275" b="0" i="0" u="none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El Teu Taller Informàtic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533650"/>
            <a:ext cx="3498800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525" y="2533650"/>
            <a:ext cx="3498800" cy="2600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533650"/>
            <a:ext cx="3498800" cy="2600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80987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533775"/>
            <a:ext cx="182022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1. Imatge i Marca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43350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Creació de la teua identitat visual única, disseny del logotip original, lema comercial i aplicació a la teua documentació corporativa oficial.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80987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4650" y="3533775"/>
            <a:ext cx="201025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2. Eines LibreOffice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3943350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Domini pràctic del paquet ofimàtic lliure: redacció de cartes en Writer, pressupostos en Calc i disseny del teu catàleg en Impress.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80987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12050" y="3533775"/>
            <a:ext cx="135016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3. Taller i PRL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3943350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Protocol de seguretat individual en el muntatge d'ordinadors, ergonomia davant la pantalla, reciclatge RAEE i manteniment previntiu.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943225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1337" y="2943225"/>
            <a:ext cx="2000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5400" y="2943225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Els 3 Eixos del Teu Treball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40" y="4071937"/>
            <a:ext cx="2365920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440" y="2300287"/>
            <a:ext cx="2365920" cy="129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341" y="4071937"/>
            <a:ext cx="2365920" cy="1495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241" y="2300287"/>
            <a:ext cx="2365920" cy="1295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125" y="3814762"/>
            <a:ext cx="109537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410" y="4252912"/>
            <a:ext cx="21841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Poppins"/>
              </a:rPr>
              <a:t>1a Aval. (Fins a Nadal)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415" y="4586287"/>
            <a:ext cx="208017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Fundació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de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l'empresa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,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logotip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,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identitat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visual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i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documents base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ofimàtics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en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Writer.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6311" y="2481262"/>
            <a:ext cx="21841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Poppins"/>
              </a:rPr>
              <a:t>Inici 2a Aval. (Gener)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8315" y="2814637"/>
            <a:ext cx="208017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Muntatge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,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disseny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del manual de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riscos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(PRL)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i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creació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de les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plantilles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de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pressupost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en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Calc.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11" y="4252912"/>
            <a:ext cx="21841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Poppins"/>
              </a:rPr>
              <a:t>Febrer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216" y="4586287"/>
            <a:ext cx="208017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Darrer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retoc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al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catàleg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de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serveis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,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gestió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d'incidències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i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preparació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de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l'exposició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(Impress).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6112" y="2481262"/>
            <a:ext cx="218417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6534"/>
                </a:solidFill>
                <a:latin typeface="Poppins"/>
              </a:rPr>
              <a:t>Març: Fira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8116" y="2814637"/>
            <a:ext cx="208017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 dirty="0" err="1">
                <a:solidFill>
                  <a:srgbClr val="475569"/>
                </a:solidFill>
                <a:latin typeface="DM Sans"/>
              </a:rPr>
              <a:t>Defensa</a:t>
            </a:r>
            <a:r>
              <a:rPr sz="1050" b="1" i="0" u="none" dirty="0">
                <a:solidFill>
                  <a:srgbClr val="475569"/>
                </a:solidFill>
                <a:latin typeface="DM Sans"/>
              </a:rPr>
              <a:t> oral de </a:t>
            </a:r>
            <a:r>
              <a:rPr sz="1050" b="1" i="0" u="none" dirty="0" err="1">
                <a:solidFill>
                  <a:srgbClr val="475569"/>
                </a:solidFill>
                <a:latin typeface="DM Sans"/>
              </a:rPr>
              <a:t>l'empresa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.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L'últim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pas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abans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d'anar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a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l'FCT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(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Pràctiques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en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 </a:t>
            </a:r>
            <a:r>
              <a:rPr sz="1050" b="0" i="0" u="none" dirty="0" err="1">
                <a:solidFill>
                  <a:srgbClr val="475569"/>
                </a:solidFill>
                <a:latin typeface="DM Sans"/>
              </a:rPr>
              <a:t>Empresa</a:t>
            </a:r>
            <a:r>
              <a:rPr sz="1050" b="0" i="0" u="none" dirty="0">
                <a:solidFill>
                  <a:srgbClr val="475569"/>
                </a:solidFill>
                <a:latin typeface="DM Sans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Compte Enrere cap a les Pràctiques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838325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13225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88125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63026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407443"/>
            <a:ext cx="5334000" cy="28527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07443"/>
            <a:ext cx="5334000" cy="2852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702718"/>
            <a:ext cx="4650581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 b="1" i="0" u="none">
                <a:solidFill>
                  <a:srgbClr val="0369A1"/>
                </a:solidFill>
                <a:latin typeface="Poppins"/>
              </a:rPr>
              <a:t>Imatge Corporativa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9918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Donaràs vida a la teua marca amb identitat pròpia: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2702718"/>
            <a:ext cx="4710588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 b="1" i="0" u="none">
                <a:solidFill>
                  <a:srgbClr val="0369A1"/>
                </a:solidFill>
                <a:latin typeface="Poppins"/>
              </a:rPr>
              <a:t>Documents en Writer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59918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Estructuració de la documentació bàsica de negoci: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55106"/>
            <a:ext cx="2190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612356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Elecció del teu nom comercial i filosofia de servei.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0493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Creació del logotip en formats digitals editables.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88631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Definició dels teus colors i tipografies oficials.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26768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Targetes de visita personals i rètol per al teu espai.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755106"/>
            <a:ext cx="161925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0" y="3612356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La teua plantilla corporativa amb capçalera i peu.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950493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Carta de presentació de l'empresa als clients.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288631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Condicions generals del teu servei tècnic.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4626768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Defensa de la 1a avaluació: presentació del negoci.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574256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3912393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4250531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458866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300" y="3574256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300" y="3912393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4250531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1300" y="458866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1a Avaluació: Identitat i Documents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64556"/>
            <a:ext cx="5334000" cy="3338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64556"/>
            <a:ext cx="5334000" cy="3338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459831"/>
            <a:ext cx="4650581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 b="1" i="0" u="none">
                <a:solidFill>
                  <a:srgbClr val="0369A1"/>
                </a:solidFill>
                <a:latin typeface="Poppins"/>
              </a:rPr>
              <a:t>Prevenció de Riscos (PRL)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17031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Un servei tècnic segur i responsable amb el medi ambient: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8475" y="2459831"/>
            <a:ext cx="4650581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 b="1" i="0" u="none">
                <a:solidFill>
                  <a:srgbClr val="0369A1"/>
                </a:solidFill>
                <a:latin typeface="Poppins"/>
              </a:rPr>
              <a:t>Càlcul i Pressupostos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917031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Gestió numèrica i control financer amb LibreOffice Calc: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512218"/>
            <a:ext cx="2190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369468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Aplicació individual de les normes de seguretat elèctrica.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07606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Ergonomia al teu lloc de treball ofimàtic.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45743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Integració del pla de gestió de residus tecnològics (RAEE).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83881"/>
            <a:ext cx="45148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Redacció d'un manual de bones pràctiques per al teu taller.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512218"/>
            <a:ext cx="219075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0" y="3369468"/>
            <a:ext cx="45148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Llistat d'inventari dels teus components i peces de recanvi.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950493"/>
            <a:ext cx="45148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Full automatitzat per a emetre els teus propis pressupostos.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531518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Simulació de facturació d'una reparació real a un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4869656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Aprovació de la viabilitat econòmica del teu negoci.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33136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3669506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4007643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4345781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300" y="333136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300" y="3912393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449341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1300" y="4831556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2a Avaluació: Taller, PRL i Economia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64556"/>
            <a:ext cx="5334000" cy="3338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64556"/>
            <a:ext cx="5334000" cy="3338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2459831"/>
            <a:ext cx="4650581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 b="1" i="0" u="none">
                <a:solidFill>
                  <a:srgbClr val="0369A1"/>
                </a:solidFill>
                <a:latin typeface="Poppins"/>
              </a:rPr>
              <a:t>Catàleg de Serveis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17031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Obrim les portes als usuaris i posem a prova el projecte: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625" y="2459831"/>
            <a:ext cx="4590573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25" b="1" i="0" u="none">
                <a:solidFill>
                  <a:srgbClr val="0369A1"/>
                </a:solidFill>
                <a:latin typeface="Poppins"/>
              </a:rPr>
              <a:t>Fira i Presentació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917031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La gran prova final abans d'anar a l'empresa: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512218"/>
            <a:ext cx="2190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369468"/>
            <a:ext cx="45148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Catàleg digital de les teues solucions informàtiques d'oficina.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0493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Creació d'un protocol d'atenció al client presencial i online.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88631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Disseny del full d'incidències tècniques per als equips.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26768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Preparació dels materials per a l'exposició pública.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512218"/>
            <a:ext cx="276225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0" y="3369468"/>
            <a:ext cx="45148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Diapositives dinàmiques amb suport visual d'alt impacte (Impress).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950493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Muntatge del teu stand demostratiu a l'aula.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288631"/>
            <a:ext cx="45148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Demostració pràctica de com resols un servei tècnic en directe.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4869656"/>
            <a:ext cx="45148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Avaluació final per a poder accedir al mòdul d'FCT.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333136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3912393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4250531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458866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300" y="3331368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300" y="3912393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4250531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1300" y="4831556"/>
            <a:ext cx="857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284C7"/>
                </a:solidFill>
                <a:latin typeface="DM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Març: Catàleg i Fira Comercial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1985962"/>
            <a:ext cx="10953750" cy="36957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71229"/>
              </p:ext>
            </p:extLst>
          </p:nvPr>
        </p:nvGraphicFramePr>
        <p:xfrm>
          <a:off x="619125" y="1985962"/>
          <a:ext cx="10944224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5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4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39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Poppins"/>
                        </a:rPr>
                        <a:t>Període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 err="1">
                          <a:solidFill>
                            <a:srgbClr val="0F172A"/>
                          </a:solidFill>
                          <a:latin typeface="Poppins"/>
                        </a:rPr>
                        <a:t>Producte</a:t>
                      </a:r>
                      <a:r>
                        <a:rPr sz="1275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 </a:t>
                      </a:r>
                      <a:r>
                        <a:rPr sz="1275" b="1" i="0" u="none" dirty="0" err="1">
                          <a:solidFill>
                            <a:srgbClr val="0F172A"/>
                          </a:solidFill>
                          <a:latin typeface="Poppins"/>
                        </a:rPr>
                        <a:t>Pràctic</a:t>
                      </a:r>
                      <a:r>
                        <a:rPr sz="1275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 Individual (</a:t>
                      </a:r>
                      <a:r>
                        <a:rPr sz="1275" b="1" i="0" u="none" dirty="0" err="1">
                          <a:solidFill>
                            <a:srgbClr val="0F172A"/>
                          </a:solidFill>
                          <a:latin typeface="Poppins"/>
                        </a:rPr>
                        <a:t>Entregable</a:t>
                      </a:r>
                      <a:r>
                        <a:rPr sz="1275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Poppins"/>
                        </a:rPr>
                        <a:t>Format de Defensa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Poppins"/>
                        </a:rPr>
                        <a:t>Pes Avaluatiu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DM Sans"/>
                        </a:rPr>
                        <a:t>1a Avaluació</a:t>
                      </a:r>
                      <a:r>
                        <a:t>
</a:t>
                      </a:r>
                      <a:r>
                        <a:rPr sz="1275" b="0" i="0" u="none">
                          <a:solidFill>
                            <a:srgbClr val="475569"/>
                          </a:solidFill>
                          <a:latin typeface="DM Sans"/>
                        </a:rPr>
                        <a:t>(Fins a Desembre)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Manual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d'identitat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,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logotip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documents base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en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Writer +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Guia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PRL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Presentació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inicial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de la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marca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(5 min)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revisió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de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documentació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2a </a:t>
                      </a:r>
                      <a:r>
                        <a:rPr sz="1275" b="1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Avaluació</a:t>
                      </a:r>
                      <a:r>
                        <a:rPr dirty="0"/>
                        <a:t>
</a:t>
                      </a:r>
                      <a:r>
                        <a:rPr sz="1275" b="0" i="0" u="none" dirty="0">
                          <a:solidFill>
                            <a:srgbClr val="475569"/>
                          </a:solidFill>
                          <a:latin typeface="DM Sans"/>
                        </a:rPr>
                        <a:t>(</a:t>
                      </a:r>
                      <a:r>
                        <a:rPr sz="1275" b="0" i="0" u="none" dirty="0" err="1">
                          <a:solidFill>
                            <a:srgbClr val="475569"/>
                          </a:solidFill>
                          <a:latin typeface="DM Sans"/>
                        </a:rPr>
                        <a:t>Gener</a:t>
                      </a:r>
                      <a:r>
                        <a:rPr sz="1275" b="0" i="0" u="none" dirty="0">
                          <a:solidFill>
                            <a:srgbClr val="475569"/>
                          </a:solidFill>
                          <a:latin typeface="DM Sans"/>
                        </a:rPr>
                        <a:t> - </a:t>
                      </a:r>
                      <a:r>
                        <a:rPr sz="1275" b="0" i="0" u="none" dirty="0" err="1">
                          <a:solidFill>
                            <a:srgbClr val="475569"/>
                          </a:solidFill>
                          <a:latin typeface="DM Sans"/>
                        </a:rPr>
                        <a:t>Febrer</a:t>
                      </a:r>
                      <a:r>
                        <a:rPr sz="1275" b="0" i="0" u="none" dirty="0">
                          <a:solidFill>
                            <a:srgbClr val="475569"/>
                          </a:solidFill>
                          <a:latin typeface="DM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Plantilla de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pressupostos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en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Calc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catàleg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de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serveis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d'atenció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al client.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Revisió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tècnica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simulació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de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pressupost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davant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"client".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Març</a:t>
                      </a:r>
                      <a:r>
                        <a:rPr dirty="0"/>
                        <a:t>
</a:t>
                      </a:r>
                      <a:r>
                        <a:rPr sz="1275" b="0" i="0" u="none" dirty="0">
                          <a:solidFill>
                            <a:srgbClr val="475569"/>
                          </a:solidFill>
                          <a:latin typeface="DM Sans"/>
                        </a:rPr>
                        <a:t>(</a:t>
                      </a:r>
                      <a:r>
                        <a:rPr sz="1275" b="0" i="0" u="none" dirty="0" err="1">
                          <a:solidFill>
                            <a:srgbClr val="475569"/>
                          </a:solidFill>
                          <a:latin typeface="DM Sans"/>
                        </a:rPr>
                        <a:t>Abans</a:t>
                      </a:r>
                      <a:r>
                        <a:rPr sz="1275" b="0" i="0" u="none" dirty="0">
                          <a:solidFill>
                            <a:srgbClr val="475569"/>
                          </a:solidFill>
                          <a:latin typeface="DM Sans"/>
                        </a:rPr>
                        <a:t> de </a:t>
                      </a:r>
                      <a:r>
                        <a:rPr sz="1275" b="0" i="0" u="none" dirty="0" err="1">
                          <a:solidFill>
                            <a:srgbClr val="475569"/>
                          </a:solidFill>
                          <a:latin typeface="DM Sans"/>
                        </a:rPr>
                        <a:t>l'FCT</a:t>
                      </a:r>
                      <a:r>
                        <a:rPr sz="1275" b="0" i="0" u="none" dirty="0">
                          <a:solidFill>
                            <a:srgbClr val="475569"/>
                          </a:solidFill>
                          <a:latin typeface="DM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Projecte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global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acabat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, stand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preparat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presentació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en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Impress.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Fira </a:t>
                      </a:r>
                      <a:r>
                        <a:rPr sz="1275" b="1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Comercial</a:t>
                      </a:r>
                      <a:r>
                        <a:rPr sz="1275" b="1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: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Exposició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pràctica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i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defensa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davant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 del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DM Sans"/>
                        </a:rPr>
                        <a:t>grup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334155"/>
                        </a:solidFill>
                        <a:latin typeface="DM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3887" y="2538412"/>
            <a:ext cx="1315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39081" y="2538412"/>
            <a:ext cx="4144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83200" y="2538412"/>
            <a:ext cx="3831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914632" y="2538412"/>
            <a:ext cx="16534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887" y="3824287"/>
            <a:ext cx="1315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39081" y="3824287"/>
            <a:ext cx="4144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3200" y="3824287"/>
            <a:ext cx="3831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14632" y="3824287"/>
            <a:ext cx="16534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887" y="4867275"/>
            <a:ext cx="1315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39081" y="4867275"/>
            <a:ext cx="4144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3200" y="4867275"/>
            <a:ext cx="38314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14632" y="4867275"/>
            <a:ext cx="16534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132" y="3052762"/>
            <a:ext cx="838200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132" y="4217193"/>
            <a:ext cx="828675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5132" y="5038725"/>
            <a:ext cx="1267717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Pla d'Avaluació (Fins a Març)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0250" y="2424112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Gestió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 del temps </a:t>
            </a: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i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autonomia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Com a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únic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responsable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el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rellotge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corre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fins al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març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Hauràs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planificar-te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bé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per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arribar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a temps a les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presentacions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3128962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DM Sans"/>
              </a:rPr>
              <a:t>Creativitat i marca personal: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Aquest projecte és el teu llenç en blanc. Tot depén de la teua originalitat a l'hora de dissenyar logotips, triar noms i atendre els "clients".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3833812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DM Sans"/>
              </a:rPr>
              <a:t>Arxiu i organització estricta: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Hauràs de portar un control rigorós dels teus documents (plantilles, pressupostos) fent còpies de seguretat constants (en el núvol o pendrive).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538662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Iniciativa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 de </a:t>
            </a: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cara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 a les </a:t>
            </a:r>
            <a:r>
              <a:rPr sz="1350" b="1" i="0" u="none" dirty="0" err="1">
                <a:solidFill>
                  <a:srgbClr val="0F172A"/>
                </a:solidFill>
                <a:latin typeface="DM Sans"/>
              </a:rPr>
              <a:t>Pràctiques</a:t>
            </a:r>
            <a:r>
              <a:rPr sz="1350" b="1" i="0" u="none" dirty="0">
                <a:solidFill>
                  <a:srgbClr val="0F172A"/>
                </a:solidFill>
                <a:latin typeface="DM Sans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L'actitud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proactiva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per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buscar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solucions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que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demostres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ací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serà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la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mateixa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que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voldran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les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empreses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on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faràs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l'FCT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al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març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438400"/>
            <a:ext cx="26670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143250"/>
            <a:ext cx="1619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3848100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552950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Claus per a l'Èxit Individual i l'Autonomia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890837"/>
            <a:ext cx="3833812" cy="1885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925" y="3195637"/>
            <a:ext cx="3224212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16A34A"/>
                </a:solidFill>
                <a:latin typeface="Poppins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4224337"/>
            <a:ext cx="32242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66534"/>
                </a:solidFill>
                <a:latin typeface="DM Sans"/>
              </a:rPr>
              <a:t>Llest per al Març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9187" y="2738437"/>
            <a:ext cx="697587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Poppins"/>
              </a:rPr>
              <a:t>El teu bitllet cap a l'empresa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9187" y="3243262"/>
            <a:ext cx="664368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DM Sans"/>
              </a:rPr>
              <a:t>El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Projecte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Intermodular no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és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per a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memoritzar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teoria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: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és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per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demostrar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que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eres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capaç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gestionar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tasques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amb</a:t>
            </a:r>
            <a:r>
              <a:rPr sz="1275" b="1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DM Sans"/>
              </a:rPr>
              <a:t>autonomia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resoldre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problemes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d'informàtica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real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comunicar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el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teu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valor.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9187" y="4086225"/>
            <a:ext cx="664368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DM Sans"/>
              </a:rPr>
              <a:t>En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finalitzar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e</a:t>
            </a:r>
            <a:r>
              <a:rPr lang="es-ES" sz="1275" b="0" i="0" u="none" dirty="0">
                <a:solidFill>
                  <a:srgbClr val="334155"/>
                </a:solidFill>
                <a:latin typeface="DM Sans"/>
              </a:rPr>
              <a:t>l </a:t>
            </a:r>
            <a:r>
              <a:rPr lang="es-ES" sz="1275" b="0" i="0" u="none" dirty="0" err="1">
                <a:solidFill>
                  <a:srgbClr val="334155"/>
                </a:solidFill>
                <a:latin typeface="DM Sans"/>
              </a:rPr>
              <a:t>treball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,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disposaràs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d'un dossier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complet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i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exclusiu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de la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teua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empresa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simulada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Serà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la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teua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millor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carta de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presentació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(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el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teu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portfolio) per a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accedir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al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centre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 de </a:t>
            </a:r>
            <a:r>
              <a:rPr sz="1275" b="0" i="0" u="none" dirty="0" err="1">
                <a:solidFill>
                  <a:srgbClr val="334155"/>
                </a:solidFill>
                <a:latin typeface="DM Sans"/>
              </a:rPr>
              <a:t>treball</a:t>
            </a:r>
            <a:r>
              <a:rPr sz="1275" b="0" i="0" u="none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523875"/>
            <a:ext cx="1132141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El Teu Portfolio Professional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23875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837" y="2333625"/>
            <a:ext cx="7934325" cy="428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281" y="523875"/>
            <a:ext cx="11501437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 err="1">
                <a:solidFill>
                  <a:srgbClr val="0F172A"/>
                </a:solidFill>
                <a:latin typeface="Poppins"/>
              </a:rPr>
              <a:t>Comencem</a:t>
            </a:r>
            <a:r>
              <a:rPr sz="48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4800" b="1" i="0" u="none" dirty="0" err="1">
                <a:solidFill>
                  <a:srgbClr val="0F172A"/>
                </a:solidFill>
                <a:latin typeface="Poppins"/>
              </a:rPr>
              <a:t>l'Aventura</a:t>
            </a:r>
            <a:r>
              <a:rPr sz="4800" b="1" i="0" u="none" dirty="0">
                <a:solidFill>
                  <a:srgbClr val="0F172A"/>
                </a:solidFill>
                <a:latin typeface="Poppins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1619250"/>
            <a:ext cx="10953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DM Sans"/>
              </a:rPr>
              <a:t>Propera parada: Les pràctiques d'empresa. Tens algun dubte?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437" y="2457450"/>
            <a:ext cx="180975" cy="180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1030</Words>
  <Application>Microsoft Office PowerPoint</Application>
  <PresentationFormat>Panorámica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DM Sans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CUENCA TORRES, JOSE</cp:lastModifiedBy>
  <cp:revision>1</cp:revision>
  <dcterms:created xsi:type="dcterms:W3CDTF">2013-01-27T09:14:16Z</dcterms:created>
  <dcterms:modified xsi:type="dcterms:W3CDTF">2026-09-16T13:27:05Z</dcterms:modified>
  <cp:category/>
</cp:coreProperties>
</file>